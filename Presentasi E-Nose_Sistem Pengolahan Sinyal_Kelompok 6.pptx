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Ultra-Bold" charset="1" panose="02000503000000020004"/>
      <p:regular r:id="rId15"/>
    </p:embeddedFon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511" y="430468"/>
            <a:ext cx="17660977" cy="9381891"/>
            <a:chOff x="0" y="0"/>
            <a:chExt cx="4651451" cy="2470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1451" cy="2470951"/>
            </a:xfrm>
            <a:custGeom>
              <a:avLst/>
              <a:gdLst/>
              <a:ahLst/>
              <a:cxnLst/>
              <a:rect r="r" b="b" t="t" l="l"/>
              <a:pathLst>
                <a:path h="2470951" w="4651451">
                  <a:moveTo>
                    <a:pt x="22357" y="0"/>
                  </a:moveTo>
                  <a:lnTo>
                    <a:pt x="4629095" y="0"/>
                  </a:lnTo>
                  <a:cubicBezTo>
                    <a:pt x="4635024" y="0"/>
                    <a:pt x="4640710" y="2355"/>
                    <a:pt x="4644903" y="6548"/>
                  </a:cubicBezTo>
                  <a:cubicBezTo>
                    <a:pt x="4649096" y="10741"/>
                    <a:pt x="4651451" y="16427"/>
                    <a:pt x="4651451" y="22357"/>
                  </a:cubicBezTo>
                  <a:lnTo>
                    <a:pt x="4651451" y="2448594"/>
                  </a:lnTo>
                  <a:cubicBezTo>
                    <a:pt x="4651451" y="2454524"/>
                    <a:pt x="4649096" y="2460210"/>
                    <a:pt x="4644903" y="2464403"/>
                  </a:cubicBezTo>
                  <a:cubicBezTo>
                    <a:pt x="4640710" y="2468595"/>
                    <a:pt x="4635024" y="2470951"/>
                    <a:pt x="4629095" y="2470951"/>
                  </a:cubicBezTo>
                  <a:lnTo>
                    <a:pt x="22357" y="2470951"/>
                  </a:lnTo>
                  <a:cubicBezTo>
                    <a:pt x="10009" y="2470951"/>
                    <a:pt x="0" y="2460941"/>
                    <a:pt x="0" y="2448594"/>
                  </a:cubicBezTo>
                  <a:lnTo>
                    <a:pt x="0" y="22357"/>
                  </a:lnTo>
                  <a:cubicBezTo>
                    <a:pt x="0" y="16427"/>
                    <a:pt x="2355" y="10741"/>
                    <a:pt x="6548" y="6548"/>
                  </a:cubicBezTo>
                  <a:cubicBezTo>
                    <a:pt x="10741" y="2355"/>
                    <a:pt x="16427" y="0"/>
                    <a:pt x="22357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51451" cy="248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77733" y="3276600"/>
            <a:ext cx="10310267" cy="11075482"/>
          </a:xfrm>
          <a:custGeom>
            <a:avLst/>
            <a:gdLst/>
            <a:ahLst/>
            <a:cxnLst/>
            <a:rect r="r" b="b" t="t" l="l"/>
            <a:pathLst>
              <a:path h="11075482" w="10310267">
                <a:moveTo>
                  <a:pt x="0" y="0"/>
                </a:moveTo>
                <a:lnTo>
                  <a:pt x="10310267" y="0"/>
                </a:lnTo>
                <a:lnTo>
                  <a:pt x="10310267" y="11075482"/>
                </a:lnTo>
                <a:lnTo>
                  <a:pt x="0" y="11075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81150"/>
            <a:ext cx="1623060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 b="true">
                <a:solidFill>
                  <a:srgbClr val="34343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Pengembangan Aplikasi GUI untuk Visualisasi Data Electronic Nose (eNose) dengan Backend Rust dan Frontend QtPython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33132"/>
            <a:ext cx="6949033" cy="47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359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SISTEM PENGOLAHAN SINYAL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853847"/>
            <a:ext cx="8507186" cy="1936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797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Rafi Sadad Ar-Rabbani (2042241105)</a:t>
            </a:r>
          </a:p>
          <a:p>
            <a:pPr algn="l">
              <a:lnSpc>
                <a:spcPts val="3759"/>
              </a:lnSpc>
            </a:pPr>
            <a:r>
              <a:rPr lang="en-US" sz="3797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Luthfiana Alzenayu G (2042241117)</a:t>
            </a:r>
          </a:p>
          <a:p>
            <a:pPr algn="l">
              <a:lnSpc>
                <a:spcPts val="3759"/>
              </a:lnSpc>
            </a:pPr>
            <a:r>
              <a:rPr lang="en-US" sz="3797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Reksa Putra Armediansyah  (2042241126)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88089"/>
            <a:ext cx="3474516" cy="48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3622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KELOMPOK 6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919141" y="-76346"/>
            <a:ext cx="11883732" cy="11084281"/>
          </a:xfrm>
          <a:custGeom>
            <a:avLst/>
            <a:gdLst/>
            <a:ahLst/>
            <a:cxnLst/>
            <a:rect r="r" b="b" t="t" l="l"/>
            <a:pathLst>
              <a:path h="11084281" w="11883732">
                <a:moveTo>
                  <a:pt x="0" y="0"/>
                </a:moveTo>
                <a:lnTo>
                  <a:pt x="11883732" y="0"/>
                </a:lnTo>
                <a:lnTo>
                  <a:pt x="11883732" y="11084281"/>
                </a:lnTo>
                <a:lnTo>
                  <a:pt x="0" y="11084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3511" y="430468"/>
            <a:ext cx="8605629" cy="9381891"/>
            <a:chOff x="0" y="0"/>
            <a:chExt cx="2266503" cy="24709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6503" cy="2470951"/>
            </a:xfrm>
            <a:custGeom>
              <a:avLst/>
              <a:gdLst/>
              <a:ahLst/>
              <a:cxnLst/>
              <a:rect r="r" b="b" t="t" l="l"/>
              <a:pathLst>
                <a:path h="2470951" w="2266503">
                  <a:moveTo>
                    <a:pt x="45881" y="0"/>
                  </a:moveTo>
                  <a:lnTo>
                    <a:pt x="2220622" y="0"/>
                  </a:lnTo>
                  <a:cubicBezTo>
                    <a:pt x="2232790" y="0"/>
                    <a:pt x="2244460" y="4834"/>
                    <a:pt x="2253065" y="13438"/>
                  </a:cubicBezTo>
                  <a:cubicBezTo>
                    <a:pt x="2261669" y="22043"/>
                    <a:pt x="2266503" y="33713"/>
                    <a:pt x="2266503" y="45881"/>
                  </a:cubicBezTo>
                  <a:lnTo>
                    <a:pt x="2266503" y="2425069"/>
                  </a:lnTo>
                  <a:cubicBezTo>
                    <a:pt x="2266503" y="2437238"/>
                    <a:pt x="2261669" y="2448908"/>
                    <a:pt x="2253065" y="2457512"/>
                  </a:cubicBezTo>
                  <a:cubicBezTo>
                    <a:pt x="2244460" y="2466117"/>
                    <a:pt x="2232790" y="2470951"/>
                    <a:pt x="2220622" y="2470951"/>
                  </a:cubicBezTo>
                  <a:lnTo>
                    <a:pt x="45881" y="2470951"/>
                  </a:lnTo>
                  <a:cubicBezTo>
                    <a:pt x="33713" y="2470951"/>
                    <a:pt x="22043" y="2466117"/>
                    <a:pt x="13438" y="2457512"/>
                  </a:cubicBezTo>
                  <a:cubicBezTo>
                    <a:pt x="4834" y="2448908"/>
                    <a:pt x="0" y="2437238"/>
                    <a:pt x="0" y="2425069"/>
                  </a:cubicBezTo>
                  <a:lnTo>
                    <a:pt x="0" y="45881"/>
                  </a:lnTo>
                  <a:cubicBezTo>
                    <a:pt x="0" y="33713"/>
                    <a:pt x="4834" y="22043"/>
                    <a:pt x="13438" y="13438"/>
                  </a:cubicBezTo>
                  <a:cubicBezTo>
                    <a:pt x="22043" y="4834"/>
                    <a:pt x="33713" y="0"/>
                    <a:pt x="45881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66503" cy="248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20599" y="1219200"/>
            <a:ext cx="5591455" cy="246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6"/>
              </a:lnSpc>
            </a:pPr>
            <a:r>
              <a:rPr lang="en-US" sz="9571" b="true">
                <a:solidFill>
                  <a:srgbClr val="34343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Latar Belakang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972" y="4158122"/>
            <a:ext cx="7114708" cy="44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9"/>
              </a:lnSpc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Electronic Nose (E-nose) digunakan untuk membaca pola respons dari beberapa sensor gas guna mengenali aroma tertentu. Pada proyek ini, sistem E-nose dikembangkan dengan menambahkan InfluxDB sebagai penyimpanan time-series agar data sensor dapat dianalisis kembali dengan lebih mudah. Backend Rust dan GUI PySide6 digunakan untuk menampilkan data secara real-time dan menjaga alur komunikasi tetap stabil.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511" y="430468"/>
            <a:ext cx="17660977" cy="9381891"/>
            <a:chOff x="0" y="0"/>
            <a:chExt cx="4651451" cy="2470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1451" cy="2470951"/>
            </a:xfrm>
            <a:custGeom>
              <a:avLst/>
              <a:gdLst/>
              <a:ahLst/>
              <a:cxnLst/>
              <a:rect r="r" b="b" t="t" l="l"/>
              <a:pathLst>
                <a:path h="2470951" w="4651451">
                  <a:moveTo>
                    <a:pt x="22357" y="0"/>
                  </a:moveTo>
                  <a:lnTo>
                    <a:pt x="4629095" y="0"/>
                  </a:lnTo>
                  <a:cubicBezTo>
                    <a:pt x="4635024" y="0"/>
                    <a:pt x="4640710" y="2355"/>
                    <a:pt x="4644903" y="6548"/>
                  </a:cubicBezTo>
                  <a:cubicBezTo>
                    <a:pt x="4649096" y="10741"/>
                    <a:pt x="4651451" y="16427"/>
                    <a:pt x="4651451" y="22357"/>
                  </a:cubicBezTo>
                  <a:lnTo>
                    <a:pt x="4651451" y="2448594"/>
                  </a:lnTo>
                  <a:cubicBezTo>
                    <a:pt x="4651451" y="2454524"/>
                    <a:pt x="4649096" y="2460210"/>
                    <a:pt x="4644903" y="2464403"/>
                  </a:cubicBezTo>
                  <a:cubicBezTo>
                    <a:pt x="4640710" y="2468595"/>
                    <a:pt x="4635024" y="2470951"/>
                    <a:pt x="4629095" y="2470951"/>
                  </a:cubicBezTo>
                  <a:lnTo>
                    <a:pt x="22357" y="2470951"/>
                  </a:lnTo>
                  <a:cubicBezTo>
                    <a:pt x="10009" y="2470951"/>
                    <a:pt x="0" y="2460941"/>
                    <a:pt x="0" y="2448594"/>
                  </a:cubicBezTo>
                  <a:lnTo>
                    <a:pt x="0" y="22357"/>
                  </a:lnTo>
                  <a:cubicBezTo>
                    <a:pt x="0" y="16427"/>
                    <a:pt x="2355" y="10741"/>
                    <a:pt x="6548" y="6548"/>
                  </a:cubicBezTo>
                  <a:cubicBezTo>
                    <a:pt x="10741" y="2355"/>
                    <a:pt x="16427" y="0"/>
                    <a:pt x="22357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51451" cy="248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249448" y="865209"/>
            <a:ext cx="10556296" cy="12248866"/>
          </a:xfrm>
          <a:custGeom>
            <a:avLst/>
            <a:gdLst/>
            <a:ahLst/>
            <a:cxnLst/>
            <a:rect r="r" b="b" t="t" l="l"/>
            <a:pathLst>
              <a:path h="12248866" w="10556296">
                <a:moveTo>
                  <a:pt x="0" y="0"/>
                </a:moveTo>
                <a:lnTo>
                  <a:pt x="10556296" y="0"/>
                </a:lnTo>
                <a:lnTo>
                  <a:pt x="10556296" y="12248866"/>
                </a:lnTo>
                <a:lnTo>
                  <a:pt x="0" y="1224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41442" y="7195028"/>
            <a:ext cx="5968254" cy="7013974"/>
          </a:xfrm>
          <a:custGeom>
            <a:avLst/>
            <a:gdLst/>
            <a:ahLst/>
            <a:cxnLst/>
            <a:rect r="r" b="b" t="t" l="l"/>
            <a:pathLst>
              <a:path h="7013974" w="5968254">
                <a:moveTo>
                  <a:pt x="0" y="0"/>
                </a:moveTo>
                <a:lnTo>
                  <a:pt x="5968254" y="0"/>
                </a:lnTo>
                <a:lnTo>
                  <a:pt x="5968254" y="7013973"/>
                </a:lnTo>
                <a:lnTo>
                  <a:pt x="0" y="7013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48053" y="6989642"/>
            <a:ext cx="3591098" cy="4114800"/>
          </a:xfrm>
          <a:custGeom>
            <a:avLst/>
            <a:gdLst/>
            <a:ahLst/>
            <a:cxnLst/>
            <a:rect r="r" b="b" t="t" l="l"/>
            <a:pathLst>
              <a:path h="4114800" w="3591098">
                <a:moveTo>
                  <a:pt x="0" y="0"/>
                </a:moveTo>
                <a:lnTo>
                  <a:pt x="3591098" y="0"/>
                </a:lnTo>
                <a:lnTo>
                  <a:pt x="35910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05537" y="1162050"/>
            <a:ext cx="14453763" cy="86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565" b="true">
                <a:solidFill>
                  <a:srgbClr val="34343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Rumusan Masalah &amp; Tujuan Proyek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6157" y="2472033"/>
            <a:ext cx="3210570" cy="40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615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Rumusan Masalah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36157" y="2941198"/>
            <a:ext cx="11538373" cy="12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Bagaimana menampilkan data E-nose secara real-time dan stabil?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Bagaimana menyimpan pembacaan sensor agar bisa dianalisis ulang? 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Bagaimana meningkatkan performa aliran udara dengan dua pump?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9348" y="4399583"/>
            <a:ext cx="1355000" cy="40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615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Tujuan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39948" y="4870700"/>
            <a:ext cx="11538373" cy="20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Membuat aplikasi desktop untuk visualisasi data E-nose.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Mengembangkan backend Rust untuk pembacaan data real-time.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Membuat GUI dengan PySide6 (Qt).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Menyimpan data ke CSV &amp; InfluxDB.</a:t>
            </a:r>
          </a:p>
          <a:p>
            <a:pPr algn="just" marL="564751" indent="-282375" lvl="1">
              <a:lnSpc>
                <a:spcPts val="3269"/>
              </a:lnSpc>
              <a:buAutoNum type="arabicPeriod" startAt="1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Menyiapkan data untuk pelatihan di Edge Impulse.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235914" y="4595613"/>
            <a:ext cx="11738575" cy="5165492"/>
            <a:chOff x="0" y="0"/>
            <a:chExt cx="3091641" cy="1360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91641" cy="1360459"/>
            </a:xfrm>
            <a:custGeom>
              <a:avLst/>
              <a:gdLst/>
              <a:ahLst/>
              <a:cxnLst/>
              <a:rect r="r" b="b" t="t" l="l"/>
              <a:pathLst>
                <a:path h="1360459" w="3091641">
                  <a:moveTo>
                    <a:pt x="33636" y="0"/>
                  </a:moveTo>
                  <a:lnTo>
                    <a:pt x="3058005" y="0"/>
                  </a:lnTo>
                  <a:cubicBezTo>
                    <a:pt x="3076582" y="0"/>
                    <a:pt x="3091641" y="15059"/>
                    <a:pt x="3091641" y="33636"/>
                  </a:cubicBezTo>
                  <a:lnTo>
                    <a:pt x="3091641" y="1326823"/>
                  </a:lnTo>
                  <a:cubicBezTo>
                    <a:pt x="3091641" y="1345399"/>
                    <a:pt x="3076582" y="1360459"/>
                    <a:pt x="3058005" y="1360459"/>
                  </a:cubicBezTo>
                  <a:lnTo>
                    <a:pt x="33636" y="1360459"/>
                  </a:lnTo>
                  <a:cubicBezTo>
                    <a:pt x="15059" y="1360459"/>
                    <a:pt x="0" y="1345399"/>
                    <a:pt x="0" y="1326823"/>
                  </a:cubicBezTo>
                  <a:lnTo>
                    <a:pt x="0" y="33636"/>
                  </a:lnTo>
                  <a:cubicBezTo>
                    <a:pt x="0" y="15059"/>
                    <a:pt x="15059" y="0"/>
                    <a:pt x="33636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091641" cy="1369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047121" y="1252486"/>
            <a:ext cx="10836476" cy="11640746"/>
          </a:xfrm>
          <a:custGeom>
            <a:avLst/>
            <a:gdLst/>
            <a:ahLst/>
            <a:cxnLst/>
            <a:rect r="r" b="b" t="t" l="l"/>
            <a:pathLst>
              <a:path h="11640746" w="10836476">
                <a:moveTo>
                  <a:pt x="0" y="0"/>
                </a:moveTo>
                <a:lnTo>
                  <a:pt x="10836476" y="0"/>
                </a:lnTo>
                <a:lnTo>
                  <a:pt x="10836476" y="11640745"/>
                </a:lnTo>
                <a:lnTo>
                  <a:pt x="0" y="11640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678173" y="-123209"/>
            <a:ext cx="5718775" cy="6635710"/>
          </a:xfrm>
          <a:custGeom>
            <a:avLst/>
            <a:gdLst/>
            <a:ahLst/>
            <a:cxnLst/>
            <a:rect r="r" b="b" t="t" l="l"/>
            <a:pathLst>
              <a:path h="6635710" w="5718775">
                <a:moveTo>
                  <a:pt x="5718775" y="0"/>
                </a:moveTo>
                <a:lnTo>
                  <a:pt x="0" y="0"/>
                </a:lnTo>
                <a:lnTo>
                  <a:pt x="0" y="6635710"/>
                </a:lnTo>
                <a:lnTo>
                  <a:pt x="5718775" y="6635710"/>
                </a:lnTo>
                <a:lnTo>
                  <a:pt x="57187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89355" y="1296048"/>
            <a:ext cx="2783913" cy="3343127"/>
          </a:xfrm>
          <a:custGeom>
            <a:avLst/>
            <a:gdLst/>
            <a:ahLst/>
            <a:cxnLst/>
            <a:rect r="r" b="b" t="t" l="l"/>
            <a:pathLst>
              <a:path h="3343127" w="2783913">
                <a:moveTo>
                  <a:pt x="0" y="0"/>
                </a:moveTo>
                <a:lnTo>
                  <a:pt x="2783914" y="0"/>
                </a:lnTo>
                <a:lnTo>
                  <a:pt x="2783914" y="3343127"/>
                </a:lnTo>
                <a:lnTo>
                  <a:pt x="0" y="3343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769" y="1252486"/>
            <a:ext cx="2881765" cy="3386689"/>
          </a:xfrm>
          <a:custGeom>
            <a:avLst/>
            <a:gdLst/>
            <a:ahLst/>
            <a:cxnLst/>
            <a:rect r="r" b="b" t="t" l="l"/>
            <a:pathLst>
              <a:path h="3386689" w="2881765">
                <a:moveTo>
                  <a:pt x="0" y="0"/>
                </a:moveTo>
                <a:lnTo>
                  <a:pt x="2881764" y="0"/>
                </a:lnTo>
                <a:lnTo>
                  <a:pt x="2881764" y="3386689"/>
                </a:lnTo>
                <a:lnTo>
                  <a:pt x="0" y="33866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79919" y="6690709"/>
            <a:ext cx="10057641" cy="20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Pembacaan sensor → backend → database → GUI.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Mikrokontroler membaca MiCS-5524 &amp; Grove Multichannel Gas Sensor.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Backend memproses data dan menyimpannya ke InfluxDB.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GUI menampilkan grafik, statistik, dan kontrol sampling.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5108" y="5181622"/>
            <a:ext cx="9779381" cy="98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1"/>
              </a:lnSpc>
            </a:pPr>
            <a:r>
              <a:rPr lang="en-US" sz="7445" b="true">
                <a:solidFill>
                  <a:srgbClr val="34343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Metodologi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3555" y="388720"/>
            <a:ext cx="17560890" cy="5165492"/>
            <a:chOff x="0" y="0"/>
            <a:chExt cx="4625090" cy="1360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5091" cy="1360459"/>
            </a:xfrm>
            <a:custGeom>
              <a:avLst/>
              <a:gdLst/>
              <a:ahLst/>
              <a:cxnLst/>
              <a:rect r="r" b="b" t="t" l="l"/>
              <a:pathLst>
                <a:path h="1360459" w="4625091">
                  <a:moveTo>
                    <a:pt x="22484" y="0"/>
                  </a:moveTo>
                  <a:lnTo>
                    <a:pt x="4602607" y="0"/>
                  </a:lnTo>
                  <a:cubicBezTo>
                    <a:pt x="4608570" y="0"/>
                    <a:pt x="4614289" y="2369"/>
                    <a:pt x="4618505" y="6585"/>
                  </a:cubicBezTo>
                  <a:cubicBezTo>
                    <a:pt x="4622722" y="10802"/>
                    <a:pt x="4625091" y="16521"/>
                    <a:pt x="4625091" y="22484"/>
                  </a:cubicBezTo>
                  <a:lnTo>
                    <a:pt x="4625091" y="1337975"/>
                  </a:lnTo>
                  <a:cubicBezTo>
                    <a:pt x="4625091" y="1343938"/>
                    <a:pt x="4622722" y="1349657"/>
                    <a:pt x="4618505" y="1353873"/>
                  </a:cubicBezTo>
                  <a:cubicBezTo>
                    <a:pt x="4614289" y="1358090"/>
                    <a:pt x="4608570" y="1360459"/>
                    <a:pt x="4602607" y="1360459"/>
                  </a:cubicBezTo>
                  <a:lnTo>
                    <a:pt x="22484" y="1360459"/>
                  </a:lnTo>
                  <a:cubicBezTo>
                    <a:pt x="16521" y="1360459"/>
                    <a:pt x="10802" y="1358090"/>
                    <a:pt x="6585" y="1353873"/>
                  </a:cubicBezTo>
                  <a:cubicBezTo>
                    <a:pt x="2369" y="1349657"/>
                    <a:pt x="0" y="1343938"/>
                    <a:pt x="0" y="1337975"/>
                  </a:cubicBezTo>
                  <a:lnTo>
                    <a:pt x="0" y="22484"/>
                  </a:lnTo>
                  <a:cubicBezTo>
                    <a:pt x="0" y="16521"/>
                    <a:pt x="2369" y="10802"/>
                    <a:pt x="6585" y="6585"/>
                  </a:cubicBezTo>
                  <a:cubicBezTo>
                    <a:pt x="10802" y="2369"/>
                    <a:pt x="16521" y="0"/>
                    <a:pt x="22484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25090" cy="1369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581648" y="4850476"/>
            <a:ext cx="9507677" cy="8556910"/>
          </a:xfrm>
          <a:custGeom>
            <a:avLst/>
            <a:gdLst/>
            <a:ahLst/>
            <a:cxnLst/>
            <a:rect r="r" b="b" t="t" l="l"/>
            <a:pathLst>
              <a:path h="8556910" w="9507677">
                <a:moveTo>
                  <a:pt x="0" y="0"/>
                </a:moveTo>
                <a:lnTo>
                  <a:pt x="9507677" y="0"/>
                </a:lnTo>
                <a:lnTo>
                  <a:pt x="9507677" y="8556909"/>
                </a:lnTo>
                <a:lnTo>
                  <a:pt x="0" y="8556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2361" y="5143500"/>
            <a:ext cx="8512332" cy="9234285"/>
          </a:xfrm>
          <a:custGeom>
            <a:avLst/>
            <a:gdLst/>
            <a:ahLst/>
            <a:cxnLst/>
            <a:rect r="r" b="b" t="t" l="l"/>
            <a:pathLst>
              <a:path h="9234285" w="8512332">
                <a:moveTo>
                  <a:pt x="0" y="0"/>
                </a:moveTo>
                <a:lnTo>
                  <a:pt x="8512332" y="0"/>
                </a:lnTo>
                <a:lnTo>
                  <a:pt x="8512332" y="9234285"/>
                </a:lnTo>
                <a:lnTo>
                  <a:pt x="0" y="9234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54310" y="1048869"/>
            <a:ext cx="9779381" cy="98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sz="7445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Perancangan Sistem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2323" y="3360209"/>
            <a:ext cx="14443354" cy="40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Sensor → Mikrokontroler → Backend → InfluxDB → GUI → (Export to Edge Impulse)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511" y="430468"/>
            <a:ext cx="8605629" cy="9381891"/>
            <a:chOff x="0" y="0"/>
            <a:chExt cx="2266503" cy="2470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6503" cy="2470951"/>
            </a:xfrm>
            <a:custGeom>
              <a:avLst/>
              <a:gdLst/>
              <a:ahLst/>
              <a:cxnLst/>
              <a:rect r="r" b="b" t="t" l="l"/>
              <a:pathLst>
                <a:path h="2470951" w="2266503">
                  <a:moveTo>
                    <a:pt x="45881" y="0"/>
                  </a:moveTo>
                  <a:lnTo>
                    <a:pt x="2220622" y="0"/>
                  </a:lnTo>
                  <a:cubicBezTo>
                    <a:pt x="2232790" y="0"/>
                    <a:pt x="2244460" y="4834"/>
                    <a:pt x="2253065" y="13438"/>
                  </a:cubicBezTo>
                  <a:cubicBezTo>
                    <a:pt x="2261669" y="22043"/>
                    <a:pt x="2266503" y="33713"/>
                    <a:pt x="2266503" y="45881"/>
                  </a:cubicBezTo>
                  <a:lnTo>
                    <a:pt x="2266503" y="2425069"/>
                  </a:lnTo>
                  <a:cubicBezTo>
                    <a:pt x="2266503" y="2437238"/>
                    <a:pt x="2261669" y="2448908"/>
                    <a:pt x="2253065" y="2457512"/>
                  </a:cubicBezTo>
                  <a:cubicBezTo>
                    <a:pt x="2244460" y="2466117"/>
                    <a:pt x="2232790" y="2470951"/>
                    <a:pt x="2220622" y="2470951"/>
                  </a:cubicBezTo>
                  <a:lnTo>
                    <a:pt x="45881" y="2470951"/>
                  </a:lnTo>
                  <a:cubicBezTo>
                    <a:pt x="33713" y="2470951"/>
                    <a:pt x="22043" y="2466117"/>
                    <a:pt x="13438" y="2457512"/>
                  </a:cubicBezTo>
                  <a:cubicBezTo>
                    <a:pt x="4834" y="2448908"/>
                    <a:pt x="0" y="2437238"/>
                    <a:pt x="0" y="2425069"/>
                  </a:cubicBezTo>
                  <a:lnTo>
                    <a:pt x="0" y="45881"/>
                  </a:lnTo>
                  <a:cubicBezTo>
                    <a:pt x="0" y="33713"/>
                    <a:pt x="4834" y="22043"/>
                    <a:pt x="13438" y="13438"/>
                  </a:cubicBezTo>
                  <a:cubicBezTo>
                    <a:pt x="22043" y="4834"/>
                    <a:pt x="33713" y="0"/>
                    <a:pt x="45881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66503" cy="248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513702" y="602270"/>
            <a:ext cx="8912725" cy="10452023"/>
          </a:xfrm>
          <a:custGeom>
            <a:avLst/>
            <a:gdLst/>
            <a:ahLst/>
            <a:cxnLst/>
            <a:rect r="r" b="b" t="t" l="l"/>
            <a:pathLst>
              <a:path h="10452023" w="8912725">
                <a:moveTo>
                  <a:pt x="0" y="0"/>
                </a:moveTo>
                <a:lnTo>
                  <a:pt x="8912725" y="0"/>
                </a:lnTo>
                <a:lnTo>
                  <a:pt x="8912725" y="10452023"/>
                </a:lnTo>
                <a:lnTo>
                  <a:pt x="0" y="1045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79397" y="1139123"/>
            <a:ext cx="4112244" cy="3701020"/>
          </a:xfrm>
          <a:custGeom>
            <a:avLst/>
            <a:gdLst/>
            <a:ahLst/>
            <a:cxnLst/>
            <a:rect r="r" b="b" t="t" l="l"/>
            <a:pathLst>
              <a:path h="3701020" w="4112244">
                <a:moveTo>
                  <a:pt x="0" y="0"/>
                </a:moveTo>
                <a:lnTo>
                  <a:pt x="4112244" y="0"/>
                </a:lnTo>
                <a:lnTo>
                  <a:pt x="4112244" y="3701020"/>
                </a:lnTo>
                <a:lnTo>
                  <a:pt x="0" y="3701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28700" y="1488238"/>
            <a:ext cx="2937487" cy="3351904"/>
          </a:xfrm>
          <a:custGeom>
            <a:avLst/>
            <a:gdLst/>
            <a:ahLst/>
            <a:cxnLst/>
            <a:rect r="r" b="b" t="t" l="l"/>
            <a:pathLst>
              <a:path h="3351904" w="2937487">
                <a:moveTo>
                  <a:pt x="2937487" y="0"/>
                </a:moveTo>
                <a:lnTo>
                  <a:pt x="0" y="0"/>
                </a:lnTo>
                <a:lnTo>
                  <a:pt x="0" y="3351905"/>
                </a:lnTo>
                <a:lnTo>
                  <a:pt x="2937487" y="3351905"/>
                </a:lnTo>
                <a:lnTo>
                  <a:pt x="293748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1924" y="5399006"/>
            <a:ext cx="6846548" cy="100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1"/>
              </a:lnSpc>
            </a:pPr>
            <a:r>
              <a:rPr lang="en-US" sz="7526" b="true">
                <a:solidFill>
                  <a:srgbClr val="34343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Implementasi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572" y="6810007"/>
            <a:ext cx="7121900" cy="20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Arduino Uno R4 membaca data gas.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Backend Rust &amp; Python (serial parsing).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GUI menggunakan PySide6 + PyQtGraph.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Data otomatis masuk ke InfluxDB setiap sampel diterima.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53317" y="4961063"/>
            <a:ext cx="17581365" cy="4871111"/>
            <a:chOff x="0" y="0"/>
            <a:chExt cx="4630483" cy="1282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0483" cy="1282926"/>
            </a:xfrm>
            <a:custGeom>
              <a:avLst/>
              <a:gdLst/>
              <a:ahLst/>
              <a:cxnLst/>
              <a:rect r="r" b="b" t="t" l="l"/>
              <a:pathLst>
                <a:path h="1282926" w="4630483">
                  <a:moveTo>
                    <a:pt x="22458" y="0"/>
                  </a:moveTo>
                  <a:lnTo>
                    <a:pt x="4608025" y="0"/>
                  </a:lnTo>
                  <a:cubicBezTo>
                    <a:pt x="4613981" y="0"/>
                    <a:pt x="4619694" y="2366"/>
                    <a:pt x="4623905" y="6578"/>
                  </a:cubicBezTo>
                  <a:cubicBezTo>
                    <a:pt x="4628117" y="10789"/>
                    <a:pt x="4630483" y="16502"/>
                    <a:pt x="4630483" y="22458"/>
                  </a:cubicBezTo>
                  <a:lnTo>
                    <a:pt x="4630483" y="1260469"/>
                  </a:lnTo>
                  <a:cubicBezTo>
                    <a:pt x="4630483" y="1266425"/>
                    <a:pt x="4628117" y="1272137"/>
                    <a:pt x="4623905" y="1276349"/>
                  </a:cubicBezTo>
                  <a:cubicBezTo>
                    <a:pt x="4619694" y="1280560"/>
                    <a:pt x="4613981" y="1282926"/>
                    <a:pt x="4608025" y="1282926"/>
                  </a:cubicBezTo>
                  <a:lnTo>
                    <a:pt x="22458" y="1282926"/>
                  </a:lnTo>
                  <a:cubicBezTo>
                    <a:pt x="16502" y="1282926"/>
                    <a:pt x="10789" y="1280560"/>
                    <a:pt x="6578" y="1276349"/>
                  </a:cubicBezTo>
                  <a:cubicBezTo>
                    <a:pt x="2366" y="1272137"/>
                    <a:pt x="0" y="1266425"/>
                    <a:pt x="0" y="1260469"/>
                  </a:cubicBezTo>
                  <a:lnTo>
                    <a:pt x="0" y="22458"/>
                  </a:lnTo>
                  <a:cubicBezTo>
                    <a:pt x="0" y="16502"/>
                    <a:pt x="2366" y="10789"/>
                    <a:pt x="6578" y="6578"/>
                  </a:cubicBezTo>
                  <a:cubicBezTo>
                    <a:pt x="10789" y="2366"/>
                    <a:pt x="16502" y="0"/>
                    <a:pt x="22458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30483" cy="129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49913" y="4314567"/>
            <a:ext cx="8084770" cy="9019520"/>
          </a:xfrm>
          <a:custGeom>
            <a:avLst/>
            <a:gdLst/>
            <a:ahLst/>
            <a:cxnLst/>
            <a:rect r="r" b="b" t="t" l="l"/>
            <a:pathLst>
              <a:path h="9019520" w="8084770">
                <a:moveTo>
                  <a:pt x="0" y="0"/>
                </a:moveTo>
                <a:lnTo>
                  <a:pt x="8084770" y="0"/>
                </a:lnTo>
                <a:lnTo>
                  <a:pt x="8084770" y="9019520"/>
                </a:lnTo>
                <a:lnTo>
                  <a:pt x="0" y="901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84856" y="1324853"/>
            <a:ext cx="3532238" cy="4151134"/>
          </a:xfrm>
          <a:custGeom>
            <a:avLst/>
            <a:gdLst/>
            <a:ahLst/>
            <a:cxnLst/>
            <a:rect r="r" b="b" t="t" l="l"/>
            <a:pathLst>
              <a:path h="4151134" w="3532238">
                <a:moveTo>
                  <a:pt x="0" y="0"/>
                </a:moveTo>
                <a:lnTo>
                  <a:pt x="3532238" y="0"/>
                </a:lnTo>
                <a:lnTo>
                  <a:pt x="3532238" y="4151135"/>
                </a:lnTo>
                <a:lnTo>
                  <a:pt x="0" y="41511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4460" y="1324853"/>
            <a:ext cx="4090796" cy="4563768"/>
          </a:xfrm>
          <a:custGeom>
            <a:avLst/>
            <a:gdLst/>
            <a:ahLst/>
            <a:cxnLst/>
            <a:rect r="r" b="b" t="t" l="l"/>
            <a:pathLst>
              <a:path h="4563768" w="4090796">
                <a:moveTo>
                  <a:pt x="0" y="0"/>
                </a:moveTo>
                <a:lnTo>
                  <a:pt x="4090796" y="0"/>
                </a:lnTo>
                <a:lnTo>
                  <a:pt x="4090796" y="4563768"/>
                </a:lnTo>
                <a:lnTo>
                  <a:pt x="0" y="4563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41013" y="545698"/>
            <a:ext cx="5641196" cy="351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3"/>
              </a:lnSpc>
            </a:pPr>
            <a:r>
              <a:rPr lang="en-US" sz="13609" b="true">
                <a:solidFill>
                  <a:srgbClr val="5F89DE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Hasil </a:t>
            </a:r>
          </a:p>
          <a:p>
            <a:pPr algn="ctr">
              <a:lnSpc>
                <a:spcPts val="13473"/>
              </a:lnSpc>
            </a:pPr>
            <a:r>
              <a:rPr lang="en-US" sz="13609" b="true">
                <a:solidFill>
                  <a:srgbClr val="5F89DE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Utama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187698"/>
            <a:ext cx="8312313" cy="245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2 pump memberikan performa paling baik.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GUI stabil menampilkan data real-time.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Database memudahkan analisis dan pelatihan model.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Sistem siap dikembangkan menjadi platform klasifikasi aroma.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53317" y="2686251"/>
            <a:ext cx="17581365" cy="4871111"/>
            <a:chOff x="0" y="0"/>
            <a:chExt cx="4630483" cy="1282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0483" cy="1282926"/>
            </a:xfrm>
            <a:custGeom>
              <a:avLst/>
              <a:gdLst/>
              <a:ahLst/>
              <a:cxnLst/>
              <a:rect r="r" b="b" t="t" l="l"/>
              <a:pathLst>
                <a:path h="1282926" w="4630483">
                  <a:moveTo>
                    <a:pt x="22458" y="0"/>
                  </a:moveTo>
                  <a:lnTo>
                    <a:pt x="4608025" y="0"/>
                  </a:lnTo>
                  <a:cubicBezTo>
                    <a:pt x="4613981" y="0"/>
                    <a:pt x="4619694" y="2366"/>
                    <a:pt x="4623905" y="6578"/>
                  </a:cubicBezTo>
                  <a:cubicBezTo>
                    <a:pt x="4628117" y="10789"/>
                    <a:pt x="4630483" y="16502"/>
                    <a:pt x="4630483" y="22458"/>
                  </a:cubicBezTo>
                  <a:lnTo>
                    <a:pt x="4630483" y="1260469"/>
                  </a:lnTo>
                  <a:cubicBezTo>
                    <a:pt x="4630483" y="1266425"/>
                    <a:pt x="4628117" y="1272137"/>
                    <a:pt x="4623905" y="1276349"/>
                  </a:cubicBezTo>
                  <a:cubicBezTo>
                    <a:pt x="4619694" y="1280560"/>
                    <a:pt x="4613981" y="1282926"/>
                    <a:pt x="4608025" y="1282926"/>
                  </a:cubicBezTo>
                  <a:lnTo>
                    <a:pt x="22458" y="1282926"/>
                  </a:lnTo>
                  <a:cubicBezTo>
                    <a:pt x="16502" y="1282926"/>
                    <a:pt x="10789" y="1280560"/>
                    <a:pt x="6578" y="1276349"/>
                  </a:cubicBezTo>
                  <a:cubicBezTo>
                    <a:pt x="2366" y="1272137"/>
                    <a:pt x="0" y="1266425"/>
                    <a:pt x="0" y="1260469"/>
                  </a:cubicBezTo>
                  <a:lnTo>
                    <a:pt x="0" y="22458"/>
                  </a:lnTo>
                  <a:cubicBezTo>
                    <a:pt x="0" y="16502"/>
                    <a:pt x="2366" y="10789"/>
                    <a:pt x="6578" y="6578"/>
                  </a:cubicBezTo>
                  <a:cubicBezTo>
                    <a:pt x="10789" y="2366"/>
                    <a:pt x="16502" y="0"/>
                    <a:pt x="22458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30483" cy="129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177573" y="801620"/>
            <a:ext cx="9841584" cy="11419560"/>
          </a:xfrm>
          <a:custGeom>
            <a:avLst/>
            <a:gdLst/>
            <a:ahLst/>
            <a:cxnLst/>
            <a:rect r="r" b="b" t="t" l="l"/>
            <a:pathLst>
              <a:path h="11419560" w="9841584">
                <a:moveTo>
                  <a:pt x="0" y="0"/>
                </a:moveTo>
                <a:lnTo>
                  <a:pt x="9841584" y="0"/>
                </a:lnTo>
                <a:lnTo>
                  <a:pt x="9841584" y="11419559"/>
                </a:lnTo>
                <a:lnTo>
                  <a:pt x="0" y="1141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32248" y="6974880"/>
            <a:ext cx="5968254" cy="7013974"/>
          </a:xfrm>
          <a:custGeom>
            <a:avLst/>
            <a:gdLst/>
            <a:ahLst/>
            <a:cxnLst/>
            <a:rect r="r" b="b" t="t" l="l"/>
            <a:pathLst>
              <a:path h="7013974" w="5968254">
                <a:moveTo>
                  <a:pt x="0" y="0"/>
                </a:moveTo>
                <a:lnTo>
                  <a:pt x="5968254" y="0"/>
                </a:lnTo>
                <a:lnTo>
                  <a:pt x="5968254" y="7013973"/>
                </a:lnTo>
                <a:lnTo>
                  <a:pt x="0" y="7013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16029" y="0"/>
            <a:ext cx="3830505" cy="4114800"/>
          </a:xfrm>
          <a:custGeom>
            <a:avLst/>
            <a:gdLst/>
            <a:ahLst/>
            <a:cxnLst/>
            <a:rect r="r" b="b" t="t" l="l"/>
            <a:pathLst>
              <a:path h="4114800" w="3830505">
                <a:moveTo>
                  <a:pt x="0" y="0"/>
                </a:moveTo>
                <a:lnTo>
                  <a:pt x="3830504" y="0"/>
                </a:lnTo>
                <a:lnTo>
                  <a:pt x="3830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0232" y="2966154"/>
            <a:ext cx="7005796" cy="126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6"/>
              </a:lnSpc>
            </a:pPr>
            <a:r>
              <a:rPr lang="en-US" sz="9571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Kesimpulan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232" y="4221561"/>
            <a:ext cx="8702581" cy="28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Sistem E-nose berhasil diuji dengan 1 pump dan 2 pump.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Integrasi backend–frontend bekerja stabil.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Penggunaan InfluxDB sangat membantu analisis lanjutan.</a:t>
            </a:r>
          </a:p>
          <a:p>
            <a:pPr algn="just" marL="564751" indent="-282375" lvl="1">
              <a:lnSpc>
                <a:spcPts val="3269"/>
              </a:lnSpc>
              <a:buFont typeface="Arial"/>
              <a:buChar char="•"/>
            </a:pPr>
            <a:r>
              <a:rPr lang="en-US" sz="2615">
                <a:solidFill>
                  <a:srgbClr val="343434"/>
                </a:solidFill>
                <a:latin typeface="Inter"/>
                <a:ea typeface="Inter"/>
                <a:cs typeface="Inter"/>
                <a:sym typeface="Inter"/>
              </a:rPr>
              <a:t>Penambahan pump meningkatkan kualitas data dan respons sensor.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0315" y="-213666"/>
            <a:ext cx="21388630" cy="10714332"/>
            <a:chOff x="0" y="0"/>
            <a:chExt cx="28518173" cy="14285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32398" y="0"/>
              <a:ext cx="14285775" cy="14285775"/>
            </a:xfrm>
            <a:custGeom>
              <a:avLst/>
              <a:gdLst/>
              <a:ahLst/>
              <a:cxnLst/>
              <a:rect r="r" b="b" t="t" l="l"/>
              <a:pathLst>
                <a:path h="14285775" w="14285775">
                  <a:moveTo>
                    <a:pt x="0" y="0"/>
                  </a:moveTo>
                  <a:lnTo>
                    <a:pt x="14285775" y="0"/>
                  </a:lnTo>
                  <a:lnTo>
                    <a:pt x="14285775" y="14285775"/>
                  </a:lnTo>
                  <a:lnTo>
                    <a:pt x="0" y="142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511" y="430468"/>
            <a:ext cx="17660977" cy="9381891"/>
            <a:chOff x="0" y="0"/>
            <a:chExt cx="4651451" cy="2470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1451" cy="2470951"/>
            </a:xfrm>
            <a:custGeom>
              <a:avLst/>
              <a:gdLst/>
              <a:ahLst/>
              <a:cxnLst/>
              <a:rect r="r" b="b" t="t" l="l"/>
              <a:pathLst>
                <a:path h="2470951" w="4651451">
                  <a:moveTo>
                    <a:pt x="22357" y="0"/>
                  </a:moveTo>
                  <a:lnTo>
                    <a:pt x="4629095" y="0"/>
                  </a:lnTo>
                  <a:cubicBezTo>
                    <a:pt x="4635024" y="0"/>
                    <a:pt x="4640710" y="2355"/>
                    <a:pt x="4644903" y="6548"/>
                  </a:cubicBezTo>
                  <a:cubicBezTo>
                    <a:pt x="4649096" y="10741"/>
                    <a:pt x="4651451" y="16427"/>
                    <a:pt x="4651451" y="22357"/>
                  </a:cubicBezTo>
                  <a:lnTo>
                    <a:pt x="4651451" y="2448594"/>
                  </a:lnTo>
                  <a:cubicBezTo>
                    <a:pt x="4651451" y="2454524"/>
                    <a:pt x="4649096" y="2460210"/>
                    <a:pt x="4644903" y="2464403"/>
                  </a:cubicBezTo>
                  <a:cubicBezTo>
                    <a:pt x="4640710" y="2468595"/>
                    <a:pt x="4635024" y="2470951"/>
                    <a:pt x="4629095" y="2470951"/>
                  </a:cubicBezTo>
                  <a:lnTo>
                    <a:pt x="22357" y="2470951"/>
                  </a:lnTo>
                  <a:cubicBezTo>
                    <a:pt x="10009" y="2470951"/>
                    <a:pt x="0" y="2460941"/>
                    <a:pt x="0" y="2448594"/>
                  </a:cubicBezTo>
                  <a:lnTo>
                    <a:pt x="0" y="22357"/>
                  </a:lnTo>
                  <a:cubicBezTo>
                    <a:pt x="0" y="16427"/>
                    <a:pt x="2355" y="10741"/>
                    <a:pt x="6548" y="6548"/>
                  </a:cubicBezTo>
                  <a:cubicBezTo>
                    <a:pt x="10741" y="2355"/>
                    <a:pt x="16427" y="0"/>
                    <a:pt x="22357" y="0"/>
                  </a:cubicBezTo>
                  <a:close/>
                </a:path>
              </a:pathLst>
            </a:custGeom>
            <a:solidFill>
              <a:srgbClr val="FABDB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51451" cy="248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4885275"/>
            <a:ext cx="7724166" cy="9275745"/>
          </a:xfrm>
          <a:custGeom>
            <a:avLst/>
            <a:gdLst/>
            <a:ahLst/>
            <a:cxnLst/>
            <a:rect r="r" b="b" t="t" l="l"/>
            <a:pathLst>
              <a:path h="9275745" w="7724166">
                <a:moveTo>
                  <a:pt x="0" y="0"/>
                </a:moveTo>
                <a:lnTo>
                  <a:pt x="7724166" y="0"/>
                </a:lnTo>
                <a:lnTo>
                  <a:pt x="7724166" y="9275745"/>
                </a:lnTo>
                <a:lnTo>
                  <a:pt x="0" y="9275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8177150" y="5121414"/>
            <a:ext cx="10509171" cy="12041759"/>
          </a:xfrm>
          <a:custGeom>
            <a:avLst/>
            <a:gdLst/>
            <a:ahLst/>
            <a:cxnLst/>
            <a:rect r="r" b="b" t="t" l="l"/>
            <a:pathLst>
              <a:path h="12041759" w="10509171">
                <a:moveTo>
                  <a:pt x="10509172" y="0"/>
                </a:moveTo>
                <a:lnTo>
                  <a:pt x="0" y="0"/>
                </a:lnTo>
                <a:lnTo>
                  <a:pt x="0" y="12041758"/>
                </a:lnTo>
                <a:lnTo>
                  <a:pt x="10509172" y="12041758"/>
                </a:lnTo>
                <a:lnTo>
                  <a:pt x="105091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9617" y="2298723"/>
            <a:ext cx="9688765" cy="191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0"/>
              </a:lnSpc>
            </a:pPr>
            <a:r>
              <a:rPr lang="en-US" sz="14344" b="true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DAG7O9GBqCs</dc:identifier>
  <dcterms:modified xsi:type="dcterms:W3CDTF">2011-08-01T06:04:30Z</dcterms:modified>
  <cp:revision>1</cp:revision>
  <dc:title>Cream and Pink Illustrative Computer Presentation</dc:title>
</cp:coreProperties>
</file>